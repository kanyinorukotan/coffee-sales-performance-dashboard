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Jan to 19 Aug sales</c:v>
                </c:pt>
              </c:strCache>
            </c:strRef>
          </c:tx>
          <c:spPr>
            <a:solidFill>
              <a:srgbClr val="B9702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23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70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70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70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7812</c:v>
                </c:pt>
                <c:pt idx="1">
                  <c:v>7992</c:v>
                </c:pt>
                <c:pt idx="2">
                  <c:v>7620</c:v>
                </c:pt>
                <c:pt idx="3">
                  <c:v>7063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A23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3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DED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B9702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23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70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70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70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3A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Excelsa</c:v>
                  </c:pt>
                  <c:pt idx="1">
                    <c:v>Liberica</c:v>
                  </c:pt>
                  <c:pt idx="2">
                    <c:v>Arabica</c:v>
                  </c:pt>
                  <c:pt idx="3">
                    <c:v>Robusta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12306</c:v>
                </c:pt>
                <c:pt idx="1">
                  <c:v>12054</c:v>
                </c:pt>
                <c:pt idx="2">
                  <c:v>11769</c:v>
                </c:pt>
                <c:pt idx="3">
                  <c:v>9005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A23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3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6DED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B9702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23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70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70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702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United States</c:v>
                  </c:pt>
                  <c:pt idx="1">
                    <c:v>Ireland</c:v>
                  </c:pt>
                  <c:pt idx="2">
                    <c:v>United Kingdom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35639</c:v>
                </c:pt>
                <c:pt idx="1">
                  <c:v>6697</c:v>
                </c:pt>
                <c:pt idx="2">
                  <c:v>2799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A23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32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6DED6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B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INSIGHTS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Coffee Sales Report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7490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AD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recommended actions, January 2019 to August 2022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A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957 orders  |  913 customers  |  3 countries  |  4 coffee types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$45K in sales at a steady 10% margin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results across the full period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97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$45.1K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957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$47.16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2011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10.0%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($4.5K)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14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7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stands out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5262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almost identical across sizes, roasts and countries (about 10%), so growth depends on volume and on coffee type.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is broad-based: the top five customers account for only 3.3% of sales.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have softened since 2021 (next slide).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Coffee Sales workbook (1,000 order lines, Jan 2019 to Aug 2022)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Like-for-like sales have fallen two years in a row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from 1 January to 19 August in each year (2022 data ends on 19 August)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3736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-7.3% in 2022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3317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 the same period fell from $7,620 to $7,063, after a 4.7% drop in 2021.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0" y="393192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0956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care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5262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full-year figure for 2022 ($7.1K against $13.8K in 2021) looks like a 49% fall, but it is only because the year is incomplete.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Coffee Sales workbook (1,000 order lines, Jan 2019 to Aug 2022)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Liberica earns the most per sale, Robusta the least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coffee type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2179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29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margin: Liberica 13%, Excelsa 11%, Arabica 9%, Robusta 6%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4068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Liberica earned $1,567 profit on $12.1K of sales, about 48% more than Arabica ($1,059) on a similar sales level.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132320" y="173736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6092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Robusta lags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2331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sales (20% of total) and lowest margin (6%).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132320" y="329184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60920" y="3474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7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bags drive revenue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3886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2.5 kg size brings 52.7% of sales.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32320" y="484632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60920" y="5029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7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roast leads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360920" y="5440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roast has 38.5% of sales, ahead of medium (32.4%) and dark (29.2%).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Coffee Sales workbook (1,000 order lines, Jan 2019 to Aug 2022)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 is the market, and loyalty cards are not lifting spend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country and loyalty status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0350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663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brings 79% of sales, Ireland 15% and the UK 6%.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949440" y="1737360"/>
            <a:ext cx="4663440" cy="2194560"/>
          </a:xfrm>
          <a:prstGeom prst="roundRect">
            <a:avLst>
              <a:gd name="adj" fmla="val 5000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7804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customers spend less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3317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Cardholders spend $47.22 each against $51.52 for non-members, and their average order is $45.08 against $49.12.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949440" y="4114800"/>
            <a:ext cx="4663440" cy="2103120"/>
          </a:xfrm>
          <a:prstGeom prst="roundRect">
            <a:avLst>
              <a:gd name="adj" fmla="val 5217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7804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97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base is enrolled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47091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of 913 customers hold a card and account for 46% of sales, so the card has reach but no clear effect on spend.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Coffee Sales workbook (1,000 order lines, Jan 2019 to Aug 2022)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actions to prioritize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steps based on the findings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B9702F"/>
          </a:solidFill>
          <a:ln w="12700">
            <a:solidFill>
              <a:srgbClr val="B97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11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the mix to Liberica and Excelsa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combine strong sales with the best margins. Review Robusta pricing or promote it less.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11680"/>
            <a:ext cx="548640" cy="548640"/>
          </a:xfrm>
          <a:prstGeom prst="ellipse">
            <a:avLst/>
          </a:prstGeom>
          <a:solidFill>
            <a:srgbClr val="B9702F"/>
          </a:solidFill>
          <a:ln w="12700">
            <a:solidFill>
              <a:srgbClr val="B970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011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two-year decline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743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lapsed and active customers, and test a win-back offer in the US, which is 79% of sales.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B9702F"/>
          </a:solidFill>
          <a:ln w="12700">
            <a:solidFill>
              <a:srgbClr val="B970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97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loyalty card earn its place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spend-based tiers or rewards for bigger bags so members spend at least as much as non-members.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4EEE8"/>
          </a:solidFill>
          <a:ln w="12700">
            <a:solidFill>
              <a:srgbClr val="F4E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297680"/>
            <a:ext cx="548640" cy="548640"/>
          </a:xfrm>
          <a:prstGeom prst="ellipse">
            <a:avLst/>
          </a:prstGeom>
          <a:solidFill>
            <a:srgbClr val="B9702F"/>
          </a:solidFill>
          <a:ln w="12700">
            <a:solidFill>
              <a:srgbClr val="B97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297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Ireland and the UK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add only 21% of sales. A targeted offer there is a lower-risk way to find new volume.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5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Coffee Sales workbook (1,000 order lines, Jan 2019 to Aug 2022)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notes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= unit price x quantity; profit = profit per unit (products sheet) x quantity.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1,000 order lines belong to 957 orders. Every order matched a customer and a product, and there are no duplicate lines.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covers 1 January to 19 August only, so use like-for-like comparisons for trends.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1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are nearly uniform by design of the price list, so margin differences come mostly from coffee type.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2026-10-01T13:22:55Z</dcterms:created>
  <dcterms:modified xsi:type="dcterms:W3CDTF">2026-10-01T13:22:55Z</dcterms:modified>
</cp:coreProperties>
</file>